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wintergartennrw/-/blob/64252bbd0bc6eea404185e34a52fa0eef29914a7/_posts/2026-10-19-wintergarten-whirlpool-sauna-wasserlast-feuchtraum-haustechnik.md" TargetMode="External"/><Relationship Id="rId3" Type="http://schemas.openxmlformats.org/officeDocument/2006/relationships/hyperlink" Target="https://holzundhaus.github.io/1awintergartennrw/dateien/minimax-f51bd9b40e1c7f26a68bb62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mit Whirlpool oder Sauna: Wasserlast, Feuchtraum und Haustechnik im Griff · Erklärende Präsentation</a:t>
            </a:r>
          </a:p>
        </p:txBody>
      </p:sp>
      <p:sp>
        <p:nvSpPr>
          <p:cNvPr id="3" name="Content Placeholder 2"/>
          <p:cNvSpPr>
            <a:spLocks noGrp="1"/>
          </p:cNvSpPr>
          <p:nvPr>
            <p:ph idx="1"/>
          </p:nvPr>
        </p:nvSpPr>
        <p:spPr/>
        <p:txBody>
          <a:bodyPr/>
          <a:lstStyle/>
          <a:p>
            <a:r>
              <a:t>Überblick: Ein Wintergarten mit integriertem Whirlpool oder eigener Sauna verändert das Raumklima dauerhaft. Wasserlast, Dampfentwicklung und erhöhte Feuchtebelastung erfordern durchdachte Planung bei Materialwahl, Bauphysik und laufender Pflege. Wer diese drei Bereiche von Anfang an berücksichtigt, schützt seine Konstruktion vor Feuchteschäden und profitiert langfristig von seinem Wellness-Bereich.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Widerstandsfähige Materialien für den Feuchtraum</a:t>
            </a:r>
          </a:p>
        </p:txBody>
      </p:sp>
      <p:sp>
        <p:nvSpPr>
          <p:cNvPr id="3" name="Content Placeholder 2"/>
          <p:cNvSpPr>
            <a:spLocks noGrp="1"/>
          </p:cNvSpPr>
          <p:nvPr>
            <p:ph idx="1"/>
          </p:nvPr>
        </p:nvSpPr>
        <p:spPr/>
        <p:txBody>
          <a:bodyPr/>
          <a:lstStyle/>
          <a:p>
            <a:pPr>
              <a:defRPr sz="1800"/>
            </a:pPr>
            <a:r>
              <a:t>Nicht jedes Material verträgt dauerhaft hohe Luftfeuchtigkeit und Spritzwasser. Holzdekor und bestimmte Spanplatten können aufquellen, wenn sie im Spritzbereich verbaut werden. Besser geeignet sind feuchtigkeitsresistente Werkstoffe wie technisch getrocknetes Vollholz, Aluminiumprofile mit Pulverbeschichtung oder Kunststoffkomponenten, die keine Feuchtigkeit aufnehmen. Auch bei Bodenbelägen lohnt sich die genauere Betrachtung: Naturstein mit rauer Oberfläche bietet Rutschhemmung, während glänzende Fliesen im nassen Zustand gefährlich werden können. Die Abdichtungsebene unter dem Belag muss durchgängig ausgeführt sein und an aufgehenden Bautei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Widerstandsfähige Materialien für den Feuchtraum</a:t>
            </a:r>
          </a:p>
        </p:txBody>
      </p:sp>
      <p:sp>
        <p:nvSpPr>
          <p:cNvPr id="3" name="Content Placeholder 2"/>
          <p:cNvSpPr>
            <a:spLocks noGrp="1"/>
          </p:cNvSpPr>
          <p:nvPr>
            <p:ph idx="1"/>
          </p:nvPr>
        </p:nvSpPr>
        <p:spPr/>
        <p:txBody>
          <a:bodyPr/>
          <a:lstStyle/>
          <a:p>
            <a:pPr>
              <a:defRPr sz="1800"/>
            </a:pPr>
            <a:r>
              <a:t>len ausreichend hoch geführt werden. Planer sprechen hier von einem durchgehenden Feuchteschutz, der nicht auf punktuelle Silikonnaht-Korrekturen angewiesen sein darf.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Bauphysik im Wellness-Wintergarten verstehen</a:t>
            </a:r>
          </a:p>
        </p:txBody>
      </p:sp>
      <p:sp>
        <p:nvSpPr>
          <p:cNvPr id="3" name="Content Placeholder 2"/>
          <p:cNvSpPr>
            <a:spLocks noGrp="1"/>
          </p:cNvSpPr>
          <p:nvPr>
            <p:ph idx="1"/>
          </p:nvPr>
        </p:nvSpPr>
        <p:spPr/>
        <p:txBody>
          <a:bodyPr/>
          <a:lstStyle/>
          <a:p>
            <a:pPr>
              <a:defRPr sz="1800"/>
            </a:pPr>
            <a:r>
              <a:t>Ein beheizter Glasanbau mit Wellness-Nutzung erzeugt physikalische Prozesse, die sich von einem normalen Wohnwintergarten unterscheiden. Warme, feuchte Innenluft strebt nach außen und kühlt dabei ab. Erreicht die Luftfeuchtigkeit den Taupunkt, schlägt sich Wasser an kälteren Oberflächen nieder. Das passiert besonders an Glasflächen, metallischen Profilen und ungedämmten Anschlüssen. Eine funktionierende Dampfdiffusionsbarriere auf der Innenseite der wärmedämmenden Hülle verhindert, dass Feuchtigkeit in die Konstruktion eindringt. Ebenso wichtig ist die Wahl der richtigen Dämmstärke am Bodenrand und an den Anschlussfugen. Wo die wärmedämmende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Bauphysik im Wellness-Wintergarten verstehen</a:t>
            </a:r>
          </a:p>
        </p:txBody>
      </p:sp>
      <p:sp>
        <p:nvSpPr>
          <p:cNvPr id="3" name="Content Placeholder 2"/>
          <p:cNvSpPr>
            <a:spLocks noGrp="1"/>
          </p:cNvSpPr>
          <p:nvPr>
            <p:ph idx="1"/>
          </p:nvPr>
        </p:nvSpPr>
        <p:spPr/>
        <p:txBody>
          <a:bodyPr/>
          <a:lstStyle/>
          <a:p>
            <a:pPr>
              <a:defRPr sz="1800"/>
            </a:pPr>
            <a:r>
              <a:t>Schicht dünn ausfällt oder Lücken aufweist, bildet sich Kondensat. Wer die Dampfdiffusion bei der Planung berücksichtigt, reduziert das Risiko von Schimmelbildung und Bauschäden deutlich.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Klimatechnik für konstante Verhältnisse</a:t>
            </a:r>
          </a:p>
        </p:txBody>
      </p:sp>
      <p:sp>
        <p:nvSpPr>
          <p:cNvPr id="3" name="Content Placeholder 2"/>
          <p:cNvSpPr>
            <a:spLocks noGrp="1"/>
          </p:cNvSpPr>
          <p:nvPr>
            <p:ph idx="1"/>
          </p:nvPr>
        </p:nvSpPr>
        <p:spPr/>
        <p:txBody>
          <a:bodyPr/>
          <a:lstStyle/>
          <a:p>
            <a:pPr>
              <a:defRPr sz="1800"/>
            </a:pPr>
            <a:r>
              <a:t>Manuelle Lüftung durch Fensterkippen reicht in einem Whirlpool- oder Saunawintergarten schnell nicht mehr aus. Nach dem Saunagang oder beim Abdecken des Whirlpools steigt die Luftfeuchtigkeit kurzzeitig stark an. Eine kontrollierte Be- und Entlüftungsanlage mit feuchtegesteuerter Nachströmung kann diese Spitzen abfangen, bevor sich Feuchte an Bauteilen niederschlägt. Die Heizung erfüllt dabei einen doppelten Zweck: Sie hält nicht nur die Raumtemperatur auf Komfortniveau, sondern sorgt auch dafür, dass die Oberflächentemperatur der Verglasung nicht zu weit abfällt. Ein zu kaltes Glas führt fast zwangsläufig zu Kondensatbildung an der Innenseit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Klimatechnik für konstante Verhältnisse</a:t>
            </a:r>
          </a:p>
        </p:txBody>
      </p:sp>
      <p:sp>
        <p:nvSpPr>
          <p:cNvPr id="3" name="Content Placeholder 2"/>
          <p:cNvSpPr>
            <a:spLocks noGrp="1"/>
          </p:cNvSpPr>
          <p:nvPr>
            <p:ph idx="1"/>
          </p:nvPr>
        </p:nvSpPr>
        <p:spPr/>
        <p:txBody>
          <a:bodyPr/>
          <a:lstStyle/>
          <a:p>
            <a:pPr>
              <a:defRPr sz="1800"/>
            </a:pPr>
            <a:r>
              <a:t>e. Eine bedarfsgerecht dimensionierte Heizleistung und die Abstimmung mit dem Lüftungssystem sind daher keine Luxusfrage, sondern eine bauphysikalische Notwendigkeit.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Pflege langfristig einplanen</a:t>
            </a:r>
          </a:p>
        </p:txBody>
      </p:sp>
      <p:sp>
        <p:nvSpPr>
          <p:cNvPr id="3" name="Content Placeholder 2"/>
          <p:cNvSpPr>
            <a:spLocks noGrp="1"/>
          </p:cNvSpPr>
          <p:nvPr>
            <p:ph idx="1"/>
          </p:nvPr>
        </p:nvSpPr>
        <p:spPr/>
        <p:txBody>
          <a:bodyPr/>
          <a:lstStyle/>
          <a:p>
            <a:pPr>
              <a:defRPr sz="1800"/>
            </a:pPr>
            <a:r>
              <a:t>Ein Wellness-Wintergarten benötigt regelmäßige Aufmerksamkeit, um dauerhaft funktionstüchtig zu bleiben. Bodenabläufe sollten halbjährlich auf Durchgängigkeit geprüft werden, da sich dort Schmutz und Ablagerungen ansammeln können. Türschwellen und Anschlussfugen im Spritzbereich verdienen besondere Kontrolle, da hier Feuchtigkeit zuerst angreift. Die Dichtheit der Silikonfugen lässt mit der Zeit nach und sollte bei Sichtkontrollen mitgeprüft werden. Auch die Technik des Whirlpools oder Saunaofens profitiert von einer jährlichen Inspektion durch Fachpersonal. Wer diese Pflegeschritte von Beginn an einplant, vermeidet kostspielige Notfallrepara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Pflege langfristig einplanen</a:t>
            </a:r>
          </a:p>
        </p:txBody>
      </p:sp>
      <p:sp>
        <p:nvSpPr>
          <p:cNvPr id="3" name="Content Placeholder 2"/>
          <p:cNvSpPr>
            <a:spLocks noGrp="1"/>
          </p:cNvSpPr>
          <p:nvPr>
            <p:ph idx="1"/>
          </p:nvPr>
        </p:nvSpPr>
        <p:spPr/>
        <p:txBody>
          <a:bodyPr/>
          <a:lstStyle/>
          <a:p>
            <a:pPr>
              <a:defRPr sz="1800"/>
            </a:pPr>
            <a:r>
              <a:t>turen und erhält den Wohnkomfort im Wellness-Wintergarten über viele Jahre.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Fachliche Begleitung von Anfang an einbinden</a:t>
            </a:r>
          </a:p>
        </p:txBody>
      </p:sp>
      <p:sp>
        <p:nvSpPr>
          <p:cNvPr id="3" name="Content Placeholder 2"/>
          <p:cNvSpPr>
            <a:spLocks noGrp="1"/>
          </p:cNvSpPr>
          <p:nvPr>
            <p:ph idx="1"/>
          </p:nvPr>
        </p:nvSpPr>
        <p:spPr/>
        <p:txBody>
          <a:bodyPr/>
          <a:lstStyle/>
          <a:p>
            <a:pPr>
              <a:defRPr sz="1800"/>
            </a:pPr>
            <a:r>
              <a:t>Die beschriebenen Anforderungen zeigen, dass ein Wellness-Wintergarten mehr ist als ein Glasanbau mit Zusatzausstattung. Statiker, Haustechnik-Planer und Bauphysiker sollten frühzeitig in die Planung einbezogen werden, um Lasten, Dämmung und Lüftung aufeinander abzustimmen. Die Hauptseite zum Fundament bietet ergänzende Informationen zur Gründung und zu den Anforderungen an den Bodenaufbau. Diese Fachplanung lässt sich nicht nachträglich ersetzen, doch mit dem richtigen Team lassen sich die Weichen so stellen, dass der Wellness-Wintergarten langfristig Freude bereitet, ohne dass Bauschäden die Nutzung trüben.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mit Whirlpool oder Sauna: Wasserlast, Feuchtraum und Haustechnik im Griff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