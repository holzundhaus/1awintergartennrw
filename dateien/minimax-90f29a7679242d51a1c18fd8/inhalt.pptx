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undhaus.github.io/1awintergartennrw/photovoltaik-und-solar-glas-im-wintergarten/" TargetMode="External"/><Relationship Id="rId3" Type="http://schemas.openxmlformats.org/officeDocument/2006/relationships/hyperlink" Target="https://holzundhaus.github.io/1awintergartennrw/dateien/minimax-90f29a7679242d51a1c18fd8/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Photovoltaik im Wintergarten: Indach-Module und semitransparentes Solarglas sinnvoll kombinieren · Erklärende Präsentation</a:t>
            </a:r>
          </a:p>
        </p:txBody>
      </p:sp>
      <p:sp>
        <p:nvSpPr>
          <p:cNvPr id="3" name="Content Placeholder 2"/>
          <p:cNvSpPr>
            <a:spLocks noGrp="1"/>
          </p:cNvSpPr>
          <p:nvPr>
            <p:ph idx="1"/>
          </p:nvPr>
        </p:nvSpPr>
        <p:spPr/>
        <p:txBody>
          <a:bodyPr/>
          <a:lstStyle/>
          <a:p>
            <a:r>
              <a:t>Überblick: Eine Photovoltaik-Anlage verändert den Wintergarten nicht nur energetisch, sondern auch optisch und konstruktiv. Damit aus einer guten Idee kein späteres Problem wird, sollten Licht, Wärme, Statik, Wartung und Stromnutzung von Anfang an gemeinsam betrachtet werden. Dieser Leitfaden strukturiert die wichtigsten Entscheidungen rund um Photovoltaik im Wintergarten und das semitransparente Solarglas im Wintergarten.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Zuerst Raumnutzung und Dachertrag klären</a:t>
            </a:r>
          </a:p>
        </p:txBody>
      </p:sp>
      <p:sp>
        <p:nvSpPr>
          <p:cNvPr id="3" name="Content Placeholder 2"/>
          <p:cNvSpPr>
            <a:spLocks noGrp="1"/>
          </p:cNvSpPr>
          <p:nvPr>
            <p:ph idx="1"/>
          </p:nvPr>
        </p:nvSpPr>
        <p:spPr/>
        <p:txBody>
          <a:bodyPr/>
          <a:lstStyle/>
          <a:p>
            <a:pPr>
              <a:defRPr sz="1800"/>
            </a:pPr>
            <a:r>
              <a:t>Vor der Auswahl eines Systems steht die Frage: Soll der Wintergarten weiterhin hell und transparent bleiben oder darf er zugunsten des solaren Ertrags dunkler werden? Diese Grundsatzentscheidung beeinflusst Orientation, Modulformat und das Verhältnis zwischen Glasfläche und Stromerzeugung. Eine nach Süden ausgerichtete Dachfläche nutzt die Sonne besonders intensiv, kann aber durch die Solarzellen deutlich verschattet werden. Ost- und Westflächen verteilen das Licht gleichmäßiger über den Tag, während Bäume, Nachbarbebauung oder andere Gebäude den tatsächlichen Sonnenlauf zusätzlich beeinträchtigen. Deshalb sollte nicht nur das sonnigste Tages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Zuerst Raumnutzung und Dachertrag klären</a:t>
            </a:r>
          </a:p>
        </p:txBody>
      </p:sp>
      <p:sp>
        <p:nvSpPr>
          <p:cNvPr id="3" name="Content Placeholder 2"/>
          <p:cNvSpPr>
            <a:spLocks noGrp="1"/>
          </p:cNvSpPr>
          <p:nvPr>
            <p:ph idx="1"/>
          </p:nvPr>
        </p:nvSpPr>
        <p:spPr/>
        <p:txBody>
          <a:bodyPr/>
          <a:lstStyle/>
          <a:p>
            <a:pPr>
              <a:defRPr sz="1800"/>
            </a:pPr>
            <a:r>
              <a:t>licht, sondern das gesamte jährliche Verschattungsprofil betrachtet werden. Hilfreich ist eine grafische Darstellung, die auch die Wintermonate berücksichtigt.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Indach-Module erforderlich ein abgestimmtes Tragwerk</a:t>
            </a:r>
          </a:p>
        </p:txBody>
      </p:sp>
      <p:sp>
        <p:nvSpPr>
          <p:cNvPr id="3" name="Content Placeholder 2"/>
          <p:cNvSpPr>
            <a:spLocks noGrp="1"/>
          </p:cNvSpPr>
          <p:nvPr>
            <p:ph idx="1"/>
          </p:nvPr>
        </p:nvSpPr>
        <p:spPr/>
        <p:txBody>
          <a:bodyPr/>
          <a:lstStyle/>
          <a:p>
            <a:pPr>
              <a:defRPr sz="1800"/>
            </a:pPr>
            <a:r>
              <a:t>Bei einem Indach-System ersetzen Solarmodule die gewöhnliche Dacheindeckung und übernehmen damit auch deren Schutzfunktion. Ihr Eigengewicht, die regionalen Schneelasten und Windkräfte müssen deshalb vom Wintergartendach getragen werden. Eine Prüfung durch eine geeignete Fachkraft ist unverzichtbar, da bereits ein schweres Glasdach zusätzliche Anforderungen an Sparren, Pfosten-Riegel und Verbindungen stellt. Auch die Wasserführung und die Abdichtung müssen zur montageweise des gewählten Systems passen. Vor dem Bau sollte geklärt werden, wie Reinigung, Service und eventuelle Reparaturen möglich sind. Dafür können Wartungswege oder einzelne zug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Indach-Module erforderlich ein abgestimmtes Tragwerk</a:t>
            </a:r>
          </a:p>
        </p:txBody>
      </p:sp>
      <p:sp>
        <p:nvSpPr>
          <p:cNvPr id="3" name="Content Placeholder 2"/>
          <p:cNvSpPr>
            <a:spLocks noGrp="1"/>
          </p:cNvSpPr>
          <p:nvPr>
            <p:ph idx="1"/>
          </p:nvPr>
        </p:nvSpPr>
        <p:spPr/>
        <p:txBody>
          <a:bodyPr/>
          <a:lstStyle/>
          <a:p>
            <a:pPr>
              <a:defRPr sz="1800"/>
            </a:pPr>
            <a:r>
              <a:t>ängliche Module vorgesehen werden. Ebenso wichtig ist die Platzierung von Wechselrichter und Elektroverteilung.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Solarglas als abgestimmte Licht- und Wärmelösung</a:t>
            </a:r>
          </a:p>
        </p:txBody>
      </p:sp>
      <p:sp>
        <p:nvSpPr>
          <p:cNvPr id="3" name="Content Placeholder 2"/>
          <p:cNvSpPr>
            <a:spLocks noGrp="1"/>
          </p:cNvSpPr>
          <p:nvPr>
            <p:ph idx="1"/>
          </p:nvPr>
        </p:nvSpPr>
        <p:spPr/>
        <p:txBody>
          <a:bodyPr/>
          <a:lstStyle/>
          <a:p>
            <a:pPr>
              <a:defRPr sz="1800"/>
            </a:pPr>
            <a:r>
              <a:t>Semitransparentes Solarglas lässt einen Teil des Lichts durch die Zwischenräume zwischen den Zellen passen. Je nach Anordnung liegt die Lichtdurchlässigkeit typischerweise bei etwa 10 bis 40 Prozent. Das kann einen angenehm temperierten Wintergarten unterstützen, weil gleichzeitig weniger Wärme eingetragen wird. Für einen besonders hellen Wohnbereich kann dieselbe Entscheidung jedoch zu einer spürbaren Verdunkelung führen. Größere transparente Abstände verbessern den Lichteinfall, gehen aber auf Kosten der Leistung pro Quadratmeter. Sinnvoll ist deshalb ein konkreter Vergleich der Flächenvarianten: gewünschte Helligkeit, erforderlicher Sonnen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Solarglas als abgestimmte Licht- und Wärmelösung</a:t>
            </a:r>
          </a:p>
        </p:txBody>
      </p:sp>
      <p:sp>
        <p:nvSpPr>
          <p:cNvPr id="3" name="Content Placeholder 2"/>
          <p:cNvSpPr>
            <a:spLocks noGrp="1"/>
          </p:cNvSpPr>
          <p:nvPr>
            <p:ph idx="1"/>
          </p:nvPr>
        </p:nvSpPr>
        <p:spPr/>
        <p:txBody>
          <a:bodyPr/>
          <a:lstStyle/>
          <a:p>
            <a:pPr>
              <a:defRPr sz="1800"/>
            </a:pPr>
            <a:r>
              <a:t>schutz und angestrebter Ertrag müssen zueinander passen. Markisen oder Raffstores können die sommerliche Wärmebelastung ergänzen, müssen jedoch statisch und elektrisch mitgeplant werden.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Stromprofil und Betrieb sortieren</a:t>
            </a:r>
          </a:p>
        </p:txBody>
      </p:sp>
      <p:sp>
        <p:nvSpPr>
          <p:cNvPr id="3" name="Content Placeholder 2"/>
          <p:cNvSpPr>
            <a:spLocks noGrp="1"/>
          </p:cNvSpPr>
          <p:nvPr>
            <p:ph idx="1"/>
          </p:nvPr>
        </p:nvSpPr>
        <p:spPr/>
        <p:txBody>
          <a:bodyPr/>
          <a:lstStyle/>
          <a:p>
            <a:pPr>
              <a:defRPr sz="1800"/>
            </a:pPr>
            <a:r>
              <a:t>Das Erzeugungsprofil eines Wintergartendaches folgt dem Tagesgang der Sonne. Das kann zu einem zeitlich passenden Angebot führen, wenn tagsüber Geräte wie Kühlschrank, Router oder Heizung laufen. Für Kühlung, Wärmepumpe oder einen Stromspeicher ist das jeweilige Betriebsprofil entscheidend. Nicht genutzte Leistung wird in das Netz eingespeist; wie hoch dieser Anteil ausfällt, hängt vom Verbrauch im Haushalt ab. Ein Speicher kann sinnvoll sein, sollte aber nicht allein aufgrund der Modulgröße vorgesehen werden. Wechselrichter, Zähler und Speicher benötigen außerdem einen geeigneten Aufstellort. Kondensat, Feuchte und starke Temperaturschwankun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Stromprofil und Betrieb sortieren</a:t>
            </a:r>
          </a:p>
        </p:txBody>
      </p:sp>
      <p:sp>
        <p:nvSpPr>
          <p:cNvPr id="3" name="Content Placeholder 2"/>
          <p:cNvSpPr>
            <a:spLocks noGrp="1"/>
          </p:cNvSpPr>
          <p:nvPr>
            <p:ph idx="1"/>
          </p:nvPr>
        </p:nvSpPr>
        <p:spPr/>
        <p:txBody>
          <a:bodyPr/>
          <a:lstStyle/>
          <a:p>
            <a:pPr>
              <a:defRPr sz="1800"/>
            </a:pPr>
            <a:r>
              <a:t>gen eines Kaltwintergartens können für viele Geräte ungeeignet sein. Wärmere Nebenräume oder ein Hauswirtschaftsraum sind oft praktikabler.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Genehmigung, Brandschutz und Ausführung gemeinsam planen</a:t>
            </a:r>
          </a:p>
        </p:txBody>
      </p:sp>
      <p:sp>
        <p:nvSpPr>
          <p:cNvPr id="3" name="Content Placeholder 2"/>
          <p:cNvSpPr>
            <a:spLocks noGrp="1"/>
          </p:cNvSpPr>
          <p:nvPr>
            <p:ph idx="1"/>
          </p:nvPr>
        </p:nvSpPr>
        <p:spPr/>
        <p:txBody>
          <a:bodyPr/>
          <a:lstStyle/>
          <a:p>
            <a:pPr>
              <a:defRPr sz="1800"/>
            </a:pPr>
            <a:r>
              <a:t>Die Integration von Photovoltaik berührt mehrere Anforderungen zugleich. Das geänderte Gewicht der Dachfläche, die Ausführung der Überkopfverglasung, der Brandschutz sowie die örtlichen Abstandsflächen gehören in die frühe Planung. Ob ein vereinfachtes Genehmigungsverfahren möglich ist, hängt von der vollständigen Einhaltung der jeweils geltenden Bedingungen ab und sollte mit der zuständigen Stelle geklärt werden. Hilfreich ist eine vollständige Unterlagenmappe mit Dachaufbau, Statik, Modul- und Glasdaten, Electrical Plan sowie Angaben zu Verschattung und Sonnenschutz. Fachbetriebe lassen sich damit auf vergleichbare Grundlagen anbieten. Ents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Genehmigung, Brandschutz und Ausführung gemeinsam planen</a:t>
            </a:r>
          </a:p>
        </p:txBody>
      </p:sp>
      <p:sp>
        <p:nvSpPr>
          <p:cNvPr id="3" name="Content Placeholder 2"/>
          <p:cNvSpPr>
            <a:spLocks noGrp="1"/>
          </p:cNvSpPr>
          <p:nvPr>
            <p:ph idx="1"/>
          </p:nvPr>
        </p:nvSpPr>
        <p:spPr/>
        <p:txBody>
          <a:bodyPr/>
          <a:lstStyle/>
          <a:p>
            <a:pPr>
              <a:defRPr sz="1800"/>
            </a:pPr>
            <a:r>
              <a:t>cheidend ist nicht allein die Nennleistung der Module, sondern ein Gesamtkonzept, das Nutzbarkeit, Sicherheit und Energieertrag dauerhaft verbindet.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Photovoltaik im Wintergarten: Indach-Module und semitransparentes Solarglas sinnvoll kombinieren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