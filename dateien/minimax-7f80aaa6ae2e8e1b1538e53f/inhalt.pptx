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wintergartennrw/wintergarten-denkmalgeschuetztes-haus-nrw/" TargetMode="External"/><Relationship Id="rId3" Type="http://schemas.openxmlformats.org/officeDocument/2006/relationships/hyperlink" Target="https://holzundhaus.github.io/1awintergartennrw/dateien/minimax-7f80aaa6ae2e8e1b1538e53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an einem denkmalgeschützten Haus in NRW: Zusatzanforderungen verstehen · Erklärende Präsentation</a:t>
            </a:r>
          </a:p>
        </p:txBody>
      </p:sp>
      <p:sp>
        <p:nvSpPr>
          <p:cNvPr id="3" name="Content Placeholder 2"/>
          <p:cNvSpPr>
            <a:spLocks noGrp="1"/>
          </p:cNvSpPr>
          <p:nvPr>
            <p:ph idx="1"/>
          </p:nvPr>
        </p:nvSpPr>
        <p:spPr/>
        <p:txBody>
          <a:bodyPr/>
          <a:lstStyle/>
          <a:p>
            <a:r>
              <a:t>Überblick: Ein Wintergarten an einem denkmalgeschützten Haus in Nordrhein-Westfalen verlangt mehr als die übliche baurechtliche Prüfung. Neben Nutzung, Gebäudegeometrie, Abstandsflächen und Bebauungsplan rückt eine eigenständige denkmalrechtliche Bewertung in den Mittelpunkt: Wie wirkt der Anbau auf Substanz, Proportionen und Erscheinungsbild? Wer beide Prüfwege frühzeitig trennt und aufeinander abstimmt, kann teure Umplanungen vermeiden. Der folgende Leitfaden strukturiert die wichtigsten Schritte vom ersten Vorentwurf bis zur Ausführungsplanung.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Prüfebenen richtig voneinander trennen</a:t>
            </a:r>
          </a:p>
        </p:txBody>
      </p:sp>
      <p:sp>
        <p:nvSpPr>
          <p:cNvPr id="3" name="Content Placeholder 2"/>
          <p:cNvSpPr>
            <a:spLocks noGrp="1"/>
          </p:cNvSpPr>
          <p:nvPr>
            <p:ph idx="1"/>
          </p:nvPr>
        </p:nvSpPr>
        <p:spPr/>
        <p:txBody>
          <a:bodyPr/>
          <a:lstStyle/>
          <a:p>
            <a:pPr>
              <a:defRPr sz="1800"/>
            </a:pPr>
            <a:r>
              <a:t>Die bauordnungsrechtliche Genehmigung und der denkmalrechtliche Erlaubnisweg sind unterschiedliche Verfahren. Im bauordnungsrechtlichen Teil werden unter anderem Nutzungsart, Gebäudeklasse, Abstandsflächen und Festsetzungen im Bebauungsplan geprüft. Im Denkmalschutz geht es dagegen vor allem um die Substanz, die Gestaltung und die möglichen Auswirkungen auf das Umfeld. Auch der Umgebungsschutz kann greifen, wenn ein Wintergarten in der Nähe eines Denkmals geplant wird. Die beiden Ergebnisse müssen am Ende zueinander passen. Für den Ablauf ist es hilfreich, die denkmalrechtliche Abstimmung vorzuholen und den bauordnungsrechtlichen Antrag erst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Prüfebenen richtig voneinander trennen</a:t>
            </a:r>
          </a:p>
        </p:txBody>
      </p:sp>
      <p:sp>
        <p:nvSpPr>
          <p:cNvPr id="3" name="Content Placeholder 2"/>
          <p:cNvSpPr>
            <a:spLocks noGrp="1"/>
          </p:cNvSpPr>
          <p:nvPr>
            <p:ph idx="1"/>
          </p:nvPr>
        </p:nvSpPr>
        <p:spPr/>
        <p:txBody>
          <a:bodyPr/>
          <a:lstStyle/>
          <a:p>
            <a:pPr>
              <a:defRPr sz="1800"/>
            </a:pPr>
            <a:r>
              <a:t>danach einzureichen. So wird vermieden, dass ein bereits geplanter Entwurf wegen formaler oder gestalterischer Anforderungen überarbeitet werden muss.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zuständigen Denkmalbehörde beginnen</a:t>
            </a:r>
          </a:p>
        </p:txBody>
      </p:sp>
      <p:sp>
        <p:nvSpPr>
          <p:cNvPr id="3" name="Content Placeholder 2"/>
          <p:cNvSpPr>
            <a:spLocks noGrp="1"/>
          </p:cNvSpPr>
          <p:nvPr>
            <p:ph idx="1"/>
          </p:nvPr>
        </p:nvSpPr>
        <p:spPr/>
        <p:txBody>
          <a:bodyPr/>
          <a:lstStyle/>
          <a:p>
            <a:pPr>
              <a:defRPr sz="1800"/>
            </a:pPr>
            <a:r>
              <a:t>Bevor umfangreiche Planungen entstehen, sollte der Denkmalstatus und die mögliche Umgebungswirkung bei der zuständigen Stadt oder Gemeinde geklärt werden. Die untere Denkmalbehörde kann vorab einschätzen, ob der geplante Standort grundsätzlich denkmalverträglich ist und welche Unterlagen benötigt werden. Für die Abstimmung sind meist erste Angaben zur Lage, zum Nutzungsziel und zu den ungefähren Maßen hilfreich. Ein belastbarer Entwurf sollte außerdem erklären, wie der Wintergarten mit der bestehenden Fassade, den Fensterachsen, dem Dach und den vorhandenen Materialien zusammenarbeitet. Wichtig ist außerdem die klare Einordnung als Kalt- oder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zuständigen Denkmalbehörde beginnen</a:t>
            </a:r>
          </a:p>
        </p:txBody>
      </p:sp>
      <p:sp>
        <p:nvSpPr>
          <p:cNvPr id="3" name="Content Placeholder 2"/>
          <p:cNvSpPr>
            <a:spLocks noGrp="1"/>
          </p:cNvSpPr>
          <p:nvPr>
            <p:ph idx="1"/>
          </p:nvPr>
        </p:nvSpPr>
        <p:spPr/>
        <p:txBody>
          <a:bodyPr/>
          <a:lstStyle/>
          <a:p>
            <a:pPr>
              <a:defRPr sz="1800"/>
            </a:pPr>
            <a:r>
              <a:t> Warmwintergarten. Eine spätere Änderung der Nutzung kann eine erneute Bewertung auslösen.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mit denen ein Vorentwurf geprüft werden kann</a:t>
            </a:r>
          </a:p>
        </p:txBody>
      </p:sp>
      <p:sp>
        <p:nvSpPr>
          <p:cNvPr id="3" name="Content Placeholder 2"/>
          <p:cNvSpPr>
            <a:spLocks noGrp="1"/>
          </p:cNvSpPr>
          <p:nvPr>
            <p:ph idx="1"/>
          </p:nvPr>
        </p:nvSpPr>
        <p:spPr/>
        <p:txBody>
          <a:bodyPr/>
          <a:lstStyle/>
          <a:p>
            <a:pPr>
              <a:defRPr sz="1800"/>
            </a:pPr>
            <a:r>
              <a:t>Für die denkmalrechtliche Abstimmung und den späteren Antrag sind unterschiedliche Nachweise vorgesehen. Ein Lageplan kann Denkmal, Anbaufläche und Umgebungsbereich zeigen. Ansichten und Schnitte dokumentieren den Bestand, während Entwurfspläne Maßangaben, Proportionen und Anschlussdetails verdeutlichen. Ein Material- und Farbkonzept sollte Profile, Verglasung und Bodenbelag einbeziehen. Eine Fotomontage oder 3D-Darstellung hilft dabei, die Wirkung des Wintergartens im vorhandenen Umfeld zu beurteilen. Diese Unterlagen ersetzen nicht die Einreichung bei der zuständigen Behörde, sie bilden aber eine belastbare Grundlage für das Gespräch. In vi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mit denen ein Vorentwurf geprüft werden kann</a:t>
            </a:r>
          </a:p>
        </p:txBody>
      </p:sp>
      <p:sp>
        <p:nvSpPr>
          <p:cNvPr id="3" name="Content Placeholder 2"/>
          <p:cNvSpPr>
            <a:spLocks noGrp="1"/>
          </p:cNvSpPr>
          <p:nvPr>
            <p:ph idx="1"/>
          </p:nvPr>
        </p:nvSpPr>
        <p:spPr/>
        <p:txBody>
          <a:bodyPr/>
          <a:lstStyle/>
          <a:p>
            <a:pPr>
              <a:defRPr sz="1800"/>
            </a:pPr>
            <a:r>
              <a:t>elen Kommunen kann außerdem eine Stellungnahme der Fachbehörde für Denkmalpflege erforderlich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Materialien und Anschlüsse gestalterisch begründen</a:t>
            </a:r>
          </a:p>
        </p:txBody>
      </p:sp>
      <p:sp>
        <p:nvSpPr>
          <p:cNvPr id="3" name="Content Placeholder 2"/>
          <p:cNvSpPr>
            <a:spLocks noGrp="1"/>
          </p:cNvSpPr>
          <p:nvPr>
            <p:ph idx="1"/>
          </p:nvPr>
        </p:nvSpPr>
        <p:spPr/>
        <p:txBody>
          <a:bodyPr/>
          <a:lstStyle/>
          <a:p>
            <a:pPr>
              <a:defRPr sz="1800"/>
            </a:pPr>
            <a:r>
              <a:t>Bei einem denkmalgeschützten Bestand wird ein Material nicht allein nach Optik ausgewählt. Entscheidend ist, ob seine Wirkung mit dem vorhandenen Gebäude vereinbar ist. Schlanke Profile können zurückhaltender wirken als voluminöse Systeme. Matte oder dezente Oberflächen lassen sich häufig besser mit Fensterläden, Putzflächen und Dachdeckung verbinden. Eine großflächige, stark transparente Verglasung verändert die Fassadenwirkung deutlich und benötigt daher eine nachvollziehbare Begründung. Auch der Sockel, der Übergang zum Bodenbelag und die Wasserführung am Bestandsmauerwerk müssen sorgfältig gelöst werden. Der technisch einwandfreie Anschlu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Materialien und Anschlüsse gestalterisch begründen</a:t>
            </a:r>
          </a:p>
        </p:txBody>
      </p:sp>
      <p:sp>
        <p:nvSpPr>
          <p:cNvPr id="3" name="Content Placeholder 2"/>
          <p:cNvSpPr>
            <a:spLocks noGrp="1"/>
          </p:cNvSpPr>
          <p:nvPr>
            <p:ph idx="1"/>
          </p:nvPr>
        </p:nvSpPr>
        <p:spPr/>
        <p:txBody>
          <a:bodyPr/>
          <a:lstStyle/>
          <a:p>
            <a:pPr>
              <a:defRPr sz="1800"/>
            </a:pPr>
            <a:r>
              <a:t>ss allein genügt nicht: Entscheidend ist zusätzlich, wie er von außen wahrgenommen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Abstimmung zur belastbaren Planung</a:t>
            </a:r>
          </a:p>
        </p:txBody>
      </p:sp>
      <p:sp>
        <p:nvSpPr>
          <p:cNvPr id="3" name="Content Placeholder 2"/>
          <p:cNvSpPr>
            <a:spLocks noGrp="1"/>
          </p:cNvSpPr>
          <p:nvPr>
            <p:ph idx="1"/>
          </p:nvPr>
        </p:nvSpPr>
        <p:spPr/>
        <p:txBody>
          <a:bodyPr/>
          <a:lstStyle/>
          <a:p>
            <a:pPr>
              <a:defRPr sz="1800"/>
            </a:pPr>
            <a:r>
              <a:t>Nach der ersten Rückmeldung sollte der Vorentwurf überarbeitet und die vollständige Unterlagenmappe zusammengestellt werden. Berücksichtigt werden müssen Höhe und Trauflinie, die Gliederung der Glasflächen, Sprossen und Öffnungselemente sowie die Sichtbeziehungen vom öffentlichen Raum, aus dem Garten und von benachbarten Grundstücken. Erst wenn die denkmalrechtliche Erlaubnis erteilt ist und auch die bauordnungsrechtliche Entscheidung vorliegt, sollte die Ausführungsplanung beginnen. Eine hilfreiche Checkliste ist: Nutzung und Maße festlegen, Bestand dokumentieren, Lage und Proportion abstimmen, Materialwirkung begründen, Anschlussdetails prü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Abstimmung zur belastbaren Planung</a:t>
            </a:r>
          </a:p>
        </p:txBody>
      </p:sp>
      <p:sp>
        <p:nvSpPr>
          <p:cNvPr id="3" name="Content Placeholder 2"/>
          <p:cNvSpPr>
            <a:spLocks noGrp="1"/>
          </p:cNvSpPr>
          <p:nvPr>
            <p:ph idx="1"/>
          </p:nvPr>
        </p:nvSpPr>
        <p:spPr/>
        <p:txBody>
          <a:bodyPr/>
          <a:lstStyle/>
          <a:p>
            <a:pPr>
              <a:defRPr sz="1800"/>
            </a:pPr>
            <a:r>
              <a:t>fen, beide Verfahren nachhalten. Für weiterführende Informationen bietet die Hauptseite eine Übersicht zum klassischen Prüfweg der Wintergarten-Baugenehmigung in NRW sowie Hinweise zum Denkmalschutzgesetz NRW und zu den zuständigen kommunalen Stellen.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an einem denkmalgeschützten Haus in NRW: Zusatzanforderungen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