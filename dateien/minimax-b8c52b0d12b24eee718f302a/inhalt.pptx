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wintergartennrw/wintergarten-vs-massivanbau-oder-mietloesung-kostenvergleich/" TargetMode="External"/><Relationship Id="rId3" Type="http://schemas.openxmlformats.org/officeDocument/2006/relationships/hyperlink" Target="https://holzundhaus.github.io/1awintergartennrw/dateien/minimax-b8c52b0d12b24eee718f302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Massivanbau oder Mietlösung: Ein ehrlicher Kostenvergleich · Erklärende Präsentation</a:t>
            </a:r>
          </a:p>
        </p:txBody>
      </p:sp>
      <p:sp>
        <p:nvSpPr>
          <p:cNvPr id="3" name="Content Placeholder 2"/>
          <p:cNvSpPr>
            <a:spLocks noGrp="1"/>
          </p:cNvSpPr>
          <p:nvPr>
            <p:ph idx="1"/>
          </p:nvPr>
        </p:nvSpPr>
        <p:spPr/>
        <p:txBody>
          <a:bodyPr/>
          <a:lstStyle/>
          <a:p>
            <a:r>
              <a:t>Überblick: Wer zusätzlichen Wohnraum plant, stellt schnell die Frage: Wintergarten, Massivanbau oder Mietlösung? Die Antwort hängt weniger von einem pauschalen Quadratmeterpreis ab als von der gewünschten Nutzung, der Bauweise und den Kosten über die gesamte Nutzungsdauer. Der folgende Überblick ordnet die drei Möglichkeiten praktisch ein. Er ergänzt den ausführlichen [Kostenvergleich von Wintergarten, Massivanbau und Mietlösung](https://holzundhaus.github.io/1awintergartennrw/wintergarten-vs-massivanbau-oder-mietloesung-kostenvergleich/) um eine checklistenorientierte Entscheidungshilfe für die frühe Planungsphase.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Raumkonzept zuerst festlegen</a:t>
            </a:r>
          </a:p>
        </p:txBody>
      </p:sp>
      <p:sp>
        <p:nvSpPr>
          <p:cNvPr id="3" name="Content Placeholder 2"/>
          <p:cNvSpPr>
            <a:spLocks noGrp="1"/>
          </p:cNvSpPr>
          <p:nvPr>
            <p:ph idx="1"/>
          </p:nvPr>
        </p:nvSpPr>
        <p:spPr/>
        <p:txBody>
          <a:bodyPr/>
          <a:lstStyle/>
          <a:p>
            <a:pPr>
              <a:defRPr sz="1800"/>
            </a:pPr>
            <a:r>
              <a:t>Ein Wintergarten ist besonders geeignet, wenn Tageslicht, Gartenbezug und ein direkter Übergang nach draußen wichtig sind. Typische Nutzungen sind Essbereich, Lesebereich oder Aufenthaltsraum mit Pflanzen. Für einen dauerhaften Arbeitsplatz, ein Schlafzimmer oder die Aufnahme schwerer Gegenstände steigen dagegen die Anforderungen an Wärmedämmung, Schallschutz und Bodenaufbau. Der Massivanbau erweitert das Haus um vollwertigen Wohnraum und ist eher geeignet, wenn eine stabile Raumstruktur, mehr Stellfläche und ein dauerhaft nutzbares Raumklima benötigt werden. Die Mietlösung passt vor allem bei zeitlich begrenztem Mehrbedarf, beruflicher Flexi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Raumkonzept zuerst festlegen</a:t>
            </a:r>
          </a:p>
        </p:txBody>
      </p:sp>
      <p:sp>
        <p:nvSpPr>
          <p:cNvPr id="3" name="Content Placeholder 2"/>
          <p:cNvSpPr>
            <a:spLocks noGrp="1"/>
          </p:cNvSpPr>
          <p:nvPr>
            <p:ph idx="1"/>
          </p:nvPr>
        </p:nvSpPr>
        <p:spPr/>
        <p:txBody>
          <a:bodyPr/>
          <a:lstStyle/>
          <a:p>
            <a:pPr>
              <a:defRPr sz="1800"/>
            </a:pPr>
            <a:r>
              <a:t>bilität oder fehlendem Eigenkapital. Vor dem ersten Angebot sollten deshalb Nutzung, gewünschte Fläche, Bestand am Gebäude und die vorhandene Anbindung schriftlich feststehen.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Investitionen vollständig gegenüberstellen</a:t>
            </a:r>
          </a:p>
        </p:txBody>
      </p:sp>
      <p:sp>
        <p:nvSpPr>
          <p:cNvPr id="3" name="Content Placeholder 2"/>
          <p:cNvSpPr>
            <a:spLocks noGrp="1"/>
          </p:cNvSpPr>
          <p:nvPr>
            <p:ph idx="1"/>
          </p:nvPr>
        </p:nvSpPr>
        <p:spPr/>
        <p:txBody>
          <a:bodyPr/>
          <a:lstStyle/>
          <a:p>
            <a:pPr>
              <a:defRPr sz="1800"/>
            </a:pPr>
            <a:r>
              <a:t>Bei Wintergärten und Massivanbauten entstehen unterschiedliche Kostenblöcke. Beim Wintergarten gehören Profilaufbauten, Glasflächen, Dachform, Bodenaufbau, Wandanschluss, Beschattung und Heizung zu den relevanten Positionen. Beim Massivanbau sind unter anderem Fundament, Mauerwerk, Dämmung, Putz, Dach, Fenster, Türen, Elektro, Heizung und Innenausbau zu berücksichtigen. Die Mietlösung verursacht keine eigene Investition in Bausubstanz, bringt aber höhere monatliche Mieten, eine Kaution, mögliche Maklergebühren sowie Kosten durch einen Umzug mit sich. Ein fairer Vergleich sollte jedes Angebot in die Spalten enthalten, optional und bauseitig gl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Investitionen vollständig gegenüberstellen</a:t>
            </a:r>
          </a:p>
        </p:txBody>
      </p:sp>
      <p:sp>
        <p:nvSpPr>
          <p:cNvPr id="3" name="Content Placeholder 2"/>
          <p:cNvSpPr>
            <a:spLocks noGrp="1"/>
          </p:cNvSpPr>
          <p:nvPr>
            <p:ph idx="1"/>
          </p:nvPr>
        </p:nvSpPr>
        <p:spPr/>
        <p:txBody>
          <a:bodyPr/>
          <a:lstStyle/>
          <a:p>
            <a:pPr>
              <a:defRPr sz="1800"/>
            </a:pPr>
            <a:r>
              <a:t>iedern. So wird sichtbar, welche Leistungen tatsächlich beauftragt sind und welche später dazukommen.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Folgekosten und Alltag einplanen</a:t>
            </a:r>
          </a:p>
        </p:txBody>
      </p:sp>
      <p:sp>
        <p:nvSpPr>
          <p:cNvPr id="3" name="Content Placeholder 2"/>
          <p:cNvSpPr>
            <a:spLocks noGrp="1"/>
          </p:cNvSpPr>
          <p:nvPr>
            <p:ph idx="1"/>
          </p:nvPr>
        </p:nvSpPr>
        <p:spPr/>
        <p:txBody>
          <a:bodyPr/>
          <a:lstStyle/>
          <a:p>
            <a:pPr>
              <a:defRPr sz="1800"/>
            </a:pPr>
            <a:r>
              <a:t>Ein Wintergarten benötigt regelmäßige Reinigung der Glasflächen und Profile sowie Wartung von Beschattung, Lüftung und Heizungstechnik. Dichtungen, Holzoberflächen und weitere Verschleißteile müssen je nach Beanspruchung gepflegt oder ersetzt werden. Bei beheizter Nutzung kommen Energiekosten hinzu. Ein hochwertiger Glasaufbau kann den Heizenergiebedarf senken, ersetzt jedoch weder eine fachgerechte Bodendämmung noch eine kontrollierte Lüftung. Beim Massivanbau beeinflussen Bauart und Wärmebilanz die laufenden Kosten; die Pflege konzentriert sich auf Innenflächen und Außenfassade. Bei einer Mietlösung trägt der Vermieter die baulichen Folgeko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Folgekosten und Alltag einplanen</a:t>
            </a:r>
          </a:p>
        </p:txBody>
      </p:sp>
      <p:sp>
        <p:nvSpPr>
          <p:cNvPr id="3" name="Content Placeholder 2"/>
          <p:cNvSpPr>
            <a:spLocks noGrp="1"/>
          </p:cNvSpPr>
          <p:nvPr>
            <p:ph idx="1"/>
          </p:nvPr>
        </p:nvSpPr>
        <p:spPr/>
        <p:txBody>
          <a:bodyPr/>
          <a:lstStyle/>
          <a:p>
            <a:pPr>
              <a:defRPr sz="1800"/>
            </a:pPr>
            <a:r>
              <a:t>sten, während Miete und Nebenkosten dauerhaft laufen. Entscheidend ist deshalb, ob der gewünschte Nutzwert die zusätzliche Belastung über den betrachteten Zeitraum rechtfertigt.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Wohnwert und Flexibilität bewerten</a:t>
            </a:r>
          </a:p>
        </p:txBody>
      </p:sp>
      <p:sp>
        <p:nvSpPr>
          <p:cNvPr id="3" name="Content Placeholder 2"/>
          <p:cNvSpPr>
            <a:spLocks noGrp="1"/>
          </p:cNvSpPr>
          <p:nvPr>
            <p:ph idx="1"/>
          </p:nvPr>
        </p:nvSpPr>
        <p:spPr/>
        <p:txBody>
          <a:bodyPr/>
          <a:lstStyle/>
          <a:p>
            <a:pPr>
              <a:defRPr sz="1800"/>
            </a:pPr>
            <a:r>
              <a:t>Ein qualitätsvoller und baurechtlich sauber genehmigter Wintergarten kann den Wert der Immobilie steigern, wenn er als ganzjährig nutzbarer Wohnraum anerkannt ist. Ausführung, Dämmung und Genehmigungsfähigkeit spielen dabei eine wichtige Rolle. Ein Massivanbau wird bei Gutachten in der Regel deutlicher als vollwertiger Wohnraum erfasst; seine Wertentwicklung hängt insbesondere von Größe, Ausstattung und Energiebilanz ab. Die Mietlösung schafft dagegen keinen zusätzlichen Wert in der eigenen Immobilie. Dafür bleibt sie flexibel, wenn sich Wohnung, Arbeitsweg oder Lebenssituation verändert. Wer langfristig plant, sollte deshalb nicht nur die 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Wohnwert und Flexibilität bewerten</a:t>
            </a:r>
          </a:p>
        </p:txBody>
      </p:sp>
      <p:sp>
        <p:nvSpPr>
          <p:cNvPr id="3" name="Content Placeholder 2"/>
          <p:cNvSpPr>
            <a:spLocks noGrp="1"/>
          </p:cNvSpPr>
          <p:nvPr>
            <p:ph idx="1"/>
          </p:nvPr>
        </p:nvSpPr>
        <p:spPr/>
        <p:txBody>
          <a:bodyPr/>
          <a:lstStyle/>
          <a:p>
            <a:pPr>
              <a:defRPr sz="1800"/>
            </a:pPr>
            <a:r>
              <a:t>fangsausgabe betrachten, sondern auch Nutzungsdauer, Wertentwicklung und mögliche Veränderungsbedürfnisse.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anhand derselben Prüfpunkte vergleichen</a:t>
            </a:r>
          </a:p>
        </p:txBody>
      </p:sp>
      <p:sp>
        <p:nvSpPr>
          <p:cNvPr id="3" name="Content Placeholder 2"/>
          <p:cNvSpPr>
            <a:spLocks noGrp="1"/>
          </p:cNvSpPr>
          <p:nvPr>
            <p:ph idx="1"/>
          </p:nvPr>
        </p:nvSpPr>
        <p:spPr/>
        <p:txBody>
          <a:bodyPr/>
          <a:lstStyle/>
          <a:p>
            <a:pPr>
              <a:defRPr sz="1800"/>
            </a:pPr>
            <a:r>
              <a:t>Für die weitere Projektvorbereitung bietet sich ein einheitlicher Fragenkatalog an: Welche Maße und Nutzungen werden zugrunde gelegt? Welche Leistungen sind enthalten, optional oder bauseitig? Wie werden Wandanschluss, Fundament, Entwässerung, Boden, Glas, Dachform, Beschattung, Lüftung und Heizung geregelt? Welche Energie- und Wartungspositionen enthält der Anbieter? WelcheGenehmigungs- und Nachweiseiten sind zu klären? Für die systematische Vorbereitung von Budget, Angebot und Lebenszykluskosten hilft der ergänzende Überblick zum [vollständigen Leistungsumfang einer Wintergarten-Ausschreibung](https://holzundhaus.github.io/1awintergartennrw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anhand derselben Prüfpunkte vergleichen</a:t>
            </a:r>
          </a:p>
        </p:txBody>
      </p:sp>
      <p:sp>
        <p:nvSpPr>
          <p:cNvPr id="3" name="Content Placeholder 2"/>
          <p:cNvSpPr>
            <a:spLocks noGrp="1"/>
          </p:cNvSpPr>
          <p:nvPr>
            <p:ph idx="1"/>
          </p:nvPr>
        </p:nvSpPr>
        <p:spPr/>
        <p:txBody>
          <a:bodyPr/>
          <a:lstStyle/>
          <a:p>
            <a:pPr>
              <a:defRPr sz="1800"/>
            </a:pPr>
            <a:r>
              <a:t>/wintergarten-vs-massivanbau-oder-mietloesung-kostenvergleich/). Auf dieser Grundlage lassen sich Angebote nicht nur nach Preis, sondern auch nach Leistungsumfang, Folgekosten und langfristiger Nutzbarkeit vergleichen.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Massivanbau oder Mietlösung: Ein ehrlicher Kostenvergleich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