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1awintergartennrw.wordpress.com/2026/10/22/wintergarten-als-gartenraum-pflanzen-ueberwintern-und-jungpflanzen-ziehen/" TargetMode="External"/><Relationship Id="rId3" Type="http://schemas.openxmlformats.org/officeDocument/2006/relationships/hyperlink" Target="https://holzundhaus.github.io/1awintergartennrw/dateien/minimax-b440ee92936b0721c8cda65e/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Wintergarten als Gartenraum: Pflanzen überwintern und Jungpflanzen ziehen · Erklärende Präsentation</a:t>
            </a:r>
          </a:p>
        </p:txBody>
      </p:sp>
      <p:sp>
        <p:nvSpPr>
          <p:cNvPr id="3" name="Content Placeholder 2"/>
          <p:cNvSpPr>
            <a:spLocks noGrp="1"/>
          </p:cNvSpPr>
          <p:nvPr>
            <p:ph idx="1"/>
          </p:nvPr>
        </p:nvSpPr>
        <p:spPr/>
        <p:txBody>
          <a:bodyPr/>
          <a:lstStyle/>
          <a:p>
            <a:r>
              <a:t>Überblick: Ein Wintergarten wird erst dann zum produktiven Gartenraum, wenn Licht, Klima, Substrat und Pflanzenpflege gemeinsam geplant werden. Der folgende Leitfaden zeigt, welche Voraussetzungen für Überwinterung und Jungpflanzenzucht erfüllt sein müssen und wo die Grenzen eines Kaltwintergartens liegen. Er richtet sich an Gartenfreunde, die aus einem Glasanbau nicht nur einen geschützten Sitzplatz, sondern einen ganzjährig nutzbaren Pflanzenraum machen möchten.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Licht und Beschattung aufeinander abstimmen</a:t>
            </a:r>
          </a:p>
        </p:txBody>
      </p:sp>
      <p:sp>
        <p:nvSpPr>
          <p:cNvPr id="3" name="Content Placeholder 2"/>
          <p:cNvSpPr>
            <a:spLocks noGrp="1"/>
          </p:cNvSpPr>
          <p:nvPr>
            <p:ph idx="1"/>
          </p:nvPr>
        </p:nvSpPr>
        <p:spPr/>
        <p:txBody>
          <a:bodyPr/>
          <a:lstStyle/>
          <a:p>
            <a:pPr>
              <a:defRPr sz="1800"/>
            </a:pPr>
            <a:r>
              <a:t>Für die Pflanzengesundheit zählt nicht allein, ob ein Wintergarten nach Süden ausgerichtet ist. Entscheidend sind die tatsächlich verfügbaren Sonnenstunden sowie die Verschattung durch Gebäude, Bäume oder Dachüberstände. Im Winter sollte möglichst viel Licht in den Raum gelangen; im Sommer kann dieselbe Strahlung Hitzestau, Welke und Sonnenbrand verursachen. Eine mehrstufige Beschattung ist deshalb sinnvoll. Außenliegender Sonnenschutz wirkt grundsätzlich effektiver als innenliegende Rollos, weil er die Strahlung bereits vor dem Glas abfängt. Mobile Schattiernetze können besonders empfindliche Pflanzen zusätzlich schützen. Ein dauerhaft gesch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Licht und Beschattung aufeinander abstimmen</a:t>
            </a:r>
          </a:p>
        </p:txBody>
      </p:sp>
      <p:sp>
        <p:nvSpPr>
          <p:cNvPr id="3" name="Content Placeholder 2"/>
          <p:cNvSpPr>
            <a:spLocks noGrp="1"/>
          </p:cNvSpPr>
          <p:nvPr>
            <p:ph idx="1"/>
          </p:nvPr>
        </p:nvSpPr>
        <p:spPr/>
        <p:txBody>
          <a:bodyPr/>
          <a:lstStyle/>
          <a:p>
            <a:pPr>
              <a:defRPr sz="1800"/>
            </a:pPr>
            <a:r>
              <a:t>lossenes Rollo ist im Winter problematisch, weil dadurch das knappe Tageslicht weiter sinkt. Vor einer Investition ist es hilfreich, die Beschattung zunächst anhand der eigenen Raumsituation zu beobachten. Ergänzende Grundlagen zum Kaltwintergarten bietet die Hauptseite zum Kaltwintergarten.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Querlüftung und Feuchtekontrolle</a:t>
            </a:r>
          </a:p>
        </p:txBody>
      </p:sp>
      <p:sp>
        <p:nvSpPr>
          <p:cNvPr id="3" name="Content Placeholder 2"/>
          <p:cNvSpPr>
            <a:spLocks noGrp="1"/>
          </p:cNvSpPr>
          <p:nvPr>
            <p:ph idx="1"/>
          </p:nvPr>
        </p:nvSpPr>
        <p:spPr/>
        <p:txBody>
          <a:bodyPr/>
          <a:lstStyle/>
          <a:p>
            <a:pPr>
              <a:defRPr sz="1800"/>
            </a:pPr>
            <a:r>
              <a:t>Ein Pflanzenwintergarten benötigt eine Lüftung, die sowohl sommerliche Hitze als auch Feuchte nach Regen, Beregnung oder aus dem Wohnhaus abführt. Querlüftung mit gegenüberliegenden oder hochliegenden Öffnungen ist dafür besonders geeignet. Praktisch sind Schiebe- oder Faltelemente, da kleine manuell geöffnete Klappen im Alltag wenig Bewegung bieten. Kondenswasser sollte beobachtet und zeitlich eingeordnet werden: Es zeigt, wo Feuchte entsteht und wann gelüftet werden muss. Morgens hilft eine Lüftung, nächtliche Feuchte abzuführen, bevor die Sonne den Raum erwärmt. Nach Regen kann eine kräftige Querlüftung sinnvoll sein, sofern die Außenluft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Querlüftung und Feuchtekontrolle</a:t>
            </a:r>
          </a:p>
        </p:txBody>
      </p:sp>
      <p:sp>
        <p:nvSpPr>
          <p:cNvPr id="3" name="Content Placeholder 2"/>
          <p:cNvSpPr>
            <a:spLocks noGrp="1"/>
          </p:cNvSpPr>
          <p:nvPr>
            <p:ph idx="1"/>
          </p:nvPr>
        </p:nvSpPr>
        <p:spPr/>
        <p:txBody>
          <a:bodyPr/>
          <a:lstStyle/>
          <a:p>
            <a:pPr>
              <a:defRPr sz="1800"/>
            </a:pPr>
            <a:r>
              <a:t>trocken ist. Tropfnasse Blätter sollten über Nacht vermieden werden. Zudem ist es ratsam, die Tür zum beheizten Wohnhaus geschlossen zu halten, wenn warme, feuchte Raumluft Probleme verursacht.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Substrat und Gießmenge richtig steuern</a:t>
            </a:r>
          </a:p>
        </p:txBody>
      </p:sp>
      <p:sp>
        <p:nvSpPr>
          <p:cNvPr id="3" name="Content Placeholder 2"/>
          <p:cNvSpPr>
            <a:spLocks noGrp="1"/>
          </p:cNvSpPr>
          <p:nvPr>
            <p:ph idx="1"/>
          </p:nvPr>
        </p:nvSpPr>
        <p:spPr/>
        <p:txBody>
          <a:bodyPr/>
          <a:lstStyle/>
          <a:p>
            <a:pPr>
              <a:defRPr sz="1800"/>
            </a:pPr>
            <a:r>
              <a:t>Die meisten Kübelpflanzen benötigen im Winter weniger Wasser als während der Wachstumsphase. Ein durchlässiges Substrat, das überschüssiges Wasser ableitet, ist deshalb wichtiger als häufiges Gießen. In der Praxis haben sich strukturierende Bestandteile wie Lavasplitt oder Blähton bewährt; auf einen ausreichenden Abfluss und kontrollierbare Untersetzer sollte geachtet werden. Stehendes Wasser fördert Wurzelfäule und schafft Probleme, die sich später kaum durch mehr Pflege kompensieren lassen. Jungpflanzen werden in Aussaaterde und nicht in vorgedüngte Blumenerde ausgesät. Nach der Bildung der ersten echten Blätter werden sie pikiert und zunäc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Substrat und Gießmenge richtig steuern</a:t>
            </a:r>
          </a:p>
        </p:txBody>
      </p:sp>
      <p:sp>
        <p:nvSpPr>
          <p:cNvPr id="3" name="Content Placeholder 2"/>
          <p:cNvSpPr>
            <a:spLocks noGrp="1"/>
          </p:cNvSpPr>
          <p:nvPr>
            <p:ph idx="1"/>
          </p:nvPr>
        </p:nvSpPr>
        <p:spPr/>
        <p:txBody>
          <a:bodyPr/>
          <a:lstStyle/>
          <a:p>
            <a:pPr>
              <a:defRPr sz="1800"/>
            </a:pPr>
            <a:r>
              <a:t>hst an einen schattigeren, kühleren Platz gebracht. So sinkt das Risiko, dass sie beim späteren Ausräumen einen Temperaturschock erleiden. Weitere Hinweise zur Pflanzenpflege enthält der passende Beitrag zum Wintergarten als Gartenraum.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Pflanzen vor der Überwinterung prüfen</a:t>
            </a:r>
          </a:p>
        </p:txBody>
      </p:sp>
      <p:sp>
        <p:nvSpPr>
          <p:cNvPr id="3" name="Content Placeholder 2"/>
          <p:cNvSpPr>
            <a:spLocks noGrp="1"/>
          </p:cNvSpPr>
          <p:nvPr>
            <p:ph idx="1"/>
          </p:nvPr>
        </p:nvSpPr>
        <p:spPr/>
        <p:txBody>
          <a:bodyPr/>
          <a:lstStyle/>
          <a:p>
            <a:pPr>
              <a:defRPr sz="1800"/>
            </a:pPr>
            <a:r>
              <a:t>Vor dem Einräumen sollten alle Pflanzen auf Schädlinge kontrolliert werden. Blattläuse, Spinnmilben und Weiße Fliege profitieren von Stress und ungünstigen Bedingungen. Besonders hilfreich sind regelmäßige Kontrollen der Blattunterseiten, ausreichende Abstände zwischen den Pflanzen und das Entfernen befallener Triebe. Räumliche Trennung kann die Überwachung erleichtern: Empfindliche Pflanzen können auf eigenen Tischen stehen, robustere Arten in Bodennähe. Bei der Überwinterung unterscheidet sich die Temperaturtoleranz deutlich. Arten, die Frost bis etwa minus fünf Grad vertragen, können grundsätzlich in einem Kaltwintergarten untergebracht we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Pflanzen vor der Überwinterung prüfen</a:t>
            </a:r>
          </a:p>
        </p:txBody>
      </p:sp>
      <p:sp>
        <p:nvSpPr>
          <p:cNvPr id="3" name="Content Placeholder 2"/>
          <p:cNvSpPr>
            <a:spLocks noGrp="1"/>
          </p:cNvSpPr>
          <p:nvPr>
            <p:ph idx="1"/>
          </p:nvPr>
        </p:nvSpPr>
        <p:spPr/>
        <p:txBody>
          <a:bodyPr/>
          <a:lstStyle/>
          <a:p>
            <a:pPr>
              <a:defRPr sz="1800"/>
            </a:pPr>
            <a:r>
              <a:t>rden. Zitrusgewächse, Bougainvillea oder Hibiscus benötigen dagegen frostfreie oder wärmere Bedingungen. Mobile Frostsicherung kann eine Option sein, ersetzt jedoch keine geeignete bauliche Hülle. Schwache Pflanzen sollten nicht unnötig durch den Winter geschleust werden.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Bauliche Grundlage und Übergangszeiten planen</a:t>
            </a:r>
          </a:p>
        </p:txBody>
      </p:sp>
      <p:sp>
        <p:nvSpPr>
          <p:cNvPr id="3" name="Content Placeholder 2"/>
          <p:cNvSpPr>
            <a:spLocks noGrp="1"/>
          </p:cNvSpPr>
          <p:nvPr>
            <p:ph idx="1"/>
          </p:nvPr>
        </p:nvSpPr>
        <p:spPr/>
        <p:txBody>
          <a:bodyPr/>
          <a:lstStyle/>
          <a:p>
            <a:pPr>
              <a:defRPr sz="1800"/>
            </a:pPr>
            <a:r>
              <a:t>Vor dem Einzug der ersten Töpfe müssen Tragfähigkeit des Bodens, Wasserableitung am Sockel und die Gründung geprüft werden. Lose Platten oder ein vorhandener Terrassenaufbau allein bilden keine ausreichende Grundlage. Feuchtigkeit unter den Pflanzen belastet Wurzeln und erhöht das Risiko von Krankheiten. Beim Ein- und Ausräumen sind bedeckte Tage vorzuziehen, damit Temperaturschocks vermieden werden. Die Standorte der Pflanzen können von Jahr zu Jahr wechseln, um unterschiedliche Licht- und Temperaturbedingungen zu nutzen. Entscheidend bleibt die Gesamtwirkung: Lichttransmission im Winter, dosierte Beschattung im Sommer, wirksame Querlüftung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Bauliche Grundlage und Übergangszeiten planen</a:t>
            </a:r>
          </a:p>
        </p:txBody>
      </p:sp>
      <p:sp>
        <p:nvSpPr>
          <p:cNvPr id="3" name="Content Placeholder 2"/>
          <p:cNvSpPr>
            <a:spLocks noGrp="1"/>
          </p:cNvSpPr>
          <p:nvPr>
            <p:ph idx="1"/>
          </p:nvPr>
        </p:nvSpPr>
        <p:spPr/>
        <p:txBody>
          <a:bodyPr/>
          <a:lstStyle/>
          <a:p>
            <a:pPr>
              <a:defRPr sz="1800"/>
            </a:pPr>
            <a:r>
              <a:t>und ein durchlässiges Substrat. Wer diese Faktoren vor der Bepflanzung prüft, kann typische Ausfälle vermeiden und den Wintergarten als Gartenraum nutzen.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Wintergarten als Gartenraum: Pflanzen überwintern und Jungpflanzen ziehen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